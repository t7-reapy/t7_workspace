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3" r:id="rId10"/>
    <p:sldId id="262" r:id="rId11"/>
    <p:sldId id="264" r:id="rId12"/>
    <p:sldId id="266" r:id="rId13"/>
    <p:sldId id="265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70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0EAA9B95-8B6D-472E-AD8B-9B71D06F7239}" type="datetimeFigureOut">
              <a:rPr lang="en-US" smtClean="0"/>
              <a:t>12/20/2016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B057E73-3147-49B9-8B7E-73C41FA812C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86200"/>
            <a:ext cx="7315200" cy="1225449"/>
          </a:xfrm>
        </p:spPr>
        <p:txBody>
          <a:bodyPr/>
          <a:lstStyle/>
          <a:p>
            <a:r>
              <a:rPr lang="en-US" dirty="0" smtClean="0"/>
              <a:t>We Do The Render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 Can You!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34446"/>
            <a:ext cx="3810000" cy="36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3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WTF is PBR?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Physically Based Rendering</a:t>
            </a:r>
          </a:p>
          <a:p>
            <a:r>
              <a:rPr lang="en-US" dirty="0" smtClean="0"/>
              <a:t>Used by Treyarch since Black Ops 1</a:t>
            </a:r>
          </a:p>
          <a:p>
            <a:r>
              <a:rPr lang="en-US" dirty="0" smtClean="0"/>
              <a:t>Been used by the film industry since 2500 BCE</a:t>
            </a:r>
          </a:p>
          <a:p>
            <a:pPr lvl="1"/>
            <a:r>
              <a:rPr lang="en-US" dirty="0" smtClean="0"/>
              <a:t>This might be a lie, or an exaggeration.</a:t>
            </a:r>
          </a:p>
          <a:p>
            <a:r>
              <a:rPr lang="en-US" dirty="0" smtClean="0"/>
              <a:t>Provides a stable shading model to avoid unintended artifacts.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8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7315200" cy="1154097"/>
          </a:xfrm>
        </p:spPr>
        <p:txBody>
          <a:bodyPr/>
          <a:lstStyle/>
          <a:p>
            <a:r>
              <a:rPr lang="en-US" dirty="0" smtClean="0"/>
              <a:t>Core Ideas of PBR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9518"/>
            <a:ext cx="7315200" cy="3539527"/>
          </a:xfrm>
        </p:spPr>
        <p:txBody>
          <a:bodyPr/>
          <a:lstStyle/>
          <a:p>
            <a:r>
              <a:rPr lang="en-US" dirty="0" smtClean="0"/>
              <a:t>The light that comes off of a surface cannot exceed the light that hits the surface.</a:t>
            </a:r>
          </a:p>
          <a:p>
            <a:r>
              <a:rPr lang="en-US" dirty="0" smtClean="0"/>
              <a:t>All surfaces can be represented as a series of very small, v-shaped, mirrors.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267200"/>
            <a:ext cx="6858000" cy="181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7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13481"/>
            <a:ext cx="7315200" cy="919293"/>
          </a:xfrm>
        </p:spPr>
        <p:txBody>
          <a:bodyPr/>
          <a:lstStyle/>
          <a:p>
            <a:r>
              <a:rPr lang="en-US" dirty="0" smtClean="0"/>
              <a:t>Black Ops 1 PBR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733800"/>
            <a:ext cx="7315200" cy="2819400"/>
          </a:xfrm>
        </p:spPr>
        <p:txBody>
          <a:bodyPr>
            <a:normAutofit/>
          </a:bodyPr>
          <a:lstStyle/>
          <a:p>
            <a:r>
              <a:rPr lang="en-US" dirty="0" smtClean="0"/>
              <a:t>Partially HDR lighting, LDR effects.</a:t>
            </a:r>
          </a:p>
          <a:p>
            <a:r>
              <a:rPr lang="en-US" dirty="0" err="1" smtClean="0"/>
              <a:t>Phong</a:t>
            </a:r>
            <a:r>
              <a:rPr lang="en-US" dirty="0" smtClean="0"/>
              <a:t> specular lighting.</a:t>
            </a:r>
          </a:p>
          <a:p>
            <a:r>
              <a:rPr lang="en-US" dirty="0" smtClean="0"/>
              <a:t>Lambert diffuse lighting.</a:t>
            </a:r>
          </a:p>
          <a:p>
            <a:r>
              <a:rPr lang="en-US" dirty="0" smtClean="0"/>
              <a:t>Maximum glossiness of 2^13.</a:t>
            </a:r>
          </a:p>
          <a:p>
            <a:r>
              <a:rPr lang="en-US" dirty="0" smtClean="0"/>
              <a:t>Single, per object, 128x128 reflection probe for reflections.</a:t>
            </a:r>
          </a:p>
          <a:p>
            <a:r>
              <a:rPr lang="en-US" dirty="0" smtClean="0"/>
              <a:t>GI lighting baked into light maps.</a:t>
            </a:r>
          </a:p>
          <a:p>
            <a:r>
              <a:rPr lang="en-US" dirty="0" smtClean="0"/>
              <a:t>Some GI lighting in light grids, for dynamic objects.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1" y="381000"/>
            <a:ext cx="4739640" cy="266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8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PBR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Full HDR Lighting pipeline.</a:t>
            </a:r>
          </a:p>
          <a:p>
            <a:r>
              <a:rPr lang="en-US" dirty="0" smtClean="0"/>
              <a:t>GGX specular lighting.</a:t>
            </a:r>
          </a:p>
          <a:p>
            <a:r>
              <a:rPr lang="en-US" dirty="0" smtClean="0"/>
              <a:t>Oren-</a:t>
            </a:r>
            <a:r>
              <a:rPr lang="en-US" dirty="0" err="1" smtClean="0"/>
              <a:t>Nayar</a:t>
            </a:r>
            <a:r>
              <a:rPr lang="en-US" dirty="0" smtClean="0"/>
              <a:t> diffuse lighting.</a:t>
            </a:r>
          </a:p>
          <a:p>
            <a:r>
              <a:rPr lang="en-US" dirty="0" smtClean="0"/>
              <a:t>Maximum glossiness of 2^17.</a:t>
            </a:r>
          </a:p>
          <a:p>
            <a:r>
              <a:rPr lang="en-US" dirty="0" smtClean="0"/>
              <a:t>Global specular lighting in multiple, 256x256, blended reflection probes.</a:t>
            </a:r>
          </a:p>
          <a:p>
            <a:r>
              <a:rPr lang="en-US" dirty="0" smtClean="0"/>
              <a:t>GI lighting from point cloud diffuse bake.</a:t>
            </a:r>
          </a:p>
          <a:p>
            <a:r>
              <a:rPr lang="en-US" dirty="0" smtClean="0"/>
              <a:t>Vertex lighting/shadowing on particles.</a:t>
            </a:r>
          </a:p>
        </p:txBody>
      </p:sp>
    </p:spTree>
    <p:extLst>
      <p:ext uri="{BB962C8B-B14F-4D97-AF65-F5344CB8AC3E}">
        <p14:creationId xmlns:p14="http://schemas.microsoft.com/office/powerpoint/2010/main" val="40133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2882"/>
            <a:ext cx="7315200" cy="1154097"/>
          </a:xfrm>
        </p:spPr>
        <p:txBody>
          <a:bodyPr/>
          <a:lstStyle/>
          <a:p>
            <a:r>
              <a:rPr lang="en-US" dirty="0" smtClean="0"/>
              <a:t>Forward v. Deferred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48000"/>
            <a:ext cx="7315200" cy="3539527"/>
          </a:xfrm>
        </p:spPr>
        <p:txBody>
          <a:bodyPr/>
          <a:lstStyle/>
          <a:p>
            <a:r>
              <a:rPr lang="en-US" dirty="0" smtClean="0"/>
              <a:t>Forward renders are the type that we are all used to: each pixel looks at all the lights that hit it and produces a final result.</a:t>
            </a:r>
          </a:p>
          <a:p>
            <a:r>
              <a:rPr lang="en-US" dirty="0" smtClean="0"/>
              <a:t>Deferred renderers compile all the visible texture information, and then apply the lights to the whole screen in one pass.</a:t>
            </a:r>
          </a:p>
          <a:p>
            <a:r>
              <a:rPr lang="en-US" dirty="0" smtClean="0"/>
              <a:t>You need both and we have both.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1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667000"/>
            <a:ext cx="7315200" cy="836071"/>
          </a:xfrm>
        </p:spPr>
        <p:txBody>
          <a:bodyPr/>
          <a:lstStyle/>
          <a:p>
            <a:r>
              <a:rPr lang="en-US" dirty="0" smtClean="0"/>
              <a:t>Forward v. Deferred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581400"/>
            <a:ext cx="7315200" cy="2564167"/>
          </a:xfrm>
        </p:spPr>
        <p:txBody>
          <a:bodyPr/>
          <a:lstStyle/>
          <a:p>
            <a:r>
              <a:rPr lang="en-US" dirty="0" smtClean="0"/>
              <a:t>The forward renderer is needed to represent transparency and odd-ball or complicated lighting models like anisotropic lighting.</a:t>
            </a:r>
          </a:p>
          <a:p>
            <a:r>
              <a:rPr lang="en-US" dirty="0" smtClean="0"/>
              <a:t>The deferred renderer is a bit more efficient and allows us to do some nice tricks, like </a:t>
            </a:r>
            <a:r>
              <a:rPr lang="en-US" dirty="0" err="1" smtClean="0"/>
              <a:t>GBuffer</a:t>
            </a:r>
            <a:r>
              <a:rPr lang="en-US" dirty="0" smtClean="0"/>
              <a:t> decals.</a:t>
            </a:r>
          </a:p>
          <a:p>
            <a:r>
              <a:rPr lang="en-US" dirty="0" smtClean="0"/>
              <a:t>The deferred renderer also supports alpha test (on-off alpha) geometry.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8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90600"/>
            <a:ext cx="7315200" cy="1154097"/>
          </a:xfrm>
        </p:spPr>
        <p:txBody>
          <a:bodyPr/>
          <a:lstStyle/>
          <a:p>
            <a:r>
              <a:rPr lang="en-US" dirty="0" smtClean="0"/>
              <a:t>From Theory to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15718"/>
            <a:ext cx="7315200" cy="3539527"/>
          </a:xfrm>
        </p:spPr>
        <p:txBody>
          <a:bodyPr>
            <a:normAutofit/>
          </a:bodyPr>
          <a:lstStyle/>
          <a:p>
            <a:r>
              <a:rPr lang="en-US" dirty="0" smtClean="0"/>
              <a:t>Artists paint </a:t>
            </a:r>
            <a:r>
              <a:rPr lang="en-US" b="1" dirty="0" smtClean="0"/>
              <a:t>unlit</a:t>
            </a:r>
            <a:r>
              <a:rPr lang="en-US" dirty="0" smtClean="0"/>
              <a:t> surface features and properties into textures.</a:t>
            </a:r>
          </a:p>
          <a:p>
            <a:r>
              <a:rPr lang="en-US" dirty="0" smtClean="0"/>
              <a:t>Specular colors have been determined from measured Indices of Refraction.</a:t>
            </a:r>
          </a:p>
          <a:p>
            <a:r>
              <a:rPr lang="en-US" dirty="0" smtClean="0"/>
              <a:t>Diffuse colors have been measured using cross polarization photographic techniques and analysis of various color spaces.</a:t>
            </a:r>
          </a:p>
          <a:p>
            <a:r>
              <a:rPr lang="en-US" b="1" dirty="0" smtClean="0"/>
              <a:t>ALL TEXTURES MUST BE AUTHORED IN 16bit!!!</a:t>
            </a:r>
          </a:p>
          <a:p>
            <a:r>
              <a:rPr lang="en-US" dirty="0" smtClean="0"/>
              <a:t>Everyone must leave room for everyone else.</a:t>
            </a:r>
          </a:p>
          <a:p>
            <a:r>
              <a:rPr lang="en-US" dirty="0" smtClean="0"/>
              <a:t>There should be minimal duplication of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1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66800"/>
            <a:ext cx="7315200" cy="1154097"/>
          </a:xfrm>
        </p:spPr>
        <p:txBody>
          <a:bodyPr/>
          <a:lstStyle/>
          <a:p>
            <a:r>
              <a:rPr lang="en-US" dirty="0" smtClean="0"/>
              <a:t>Authoring Normal 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91918"/>
            <a:ext cx="7315200" cy="3539527"/>
          </a:xfrm>
        </p:spPr>
        <p:txBody>
          <a:bodyPr>
            <a:normAutofit/>
          </a:bodyPr>
          <a:lstStyle/>
          <a:p>
            <a:r>
              <a:rPr lang="en-US" dirty="0" smtClean="0"/>
              <a:t>This is the most important map of the bunch. Highest resolution, most detail.</a:t>
            </a:r>
          </a:p>
          <a:p>
            <a:r>
              <a:rPr lang="en-US" dirty="0" smtClean="0"/>
              <a:t>Bake from a high-poly. model with your package of choice.</a:t>
            </a:r>
          </a:p>
          <a:p>
            <a:r>
              <a:rPr lang="en-US" dirty="0" smtClean="0"/>
              <a:t>We compute variance based on the roughness represented in the normal and modify gloss.</a:t>
            </a:r>
          </a:p>
          <a:p>
            <a:r>
              <a:rPr lang="en-US" dirty="0" smtClean="0"/>
              <a:t>Detail normal maps should be used to represent anything smaller than 1/8</a:t>
            </a:r>
            <a:r>
              <a:rPr lang="en-US" baseline="30000" dirty="0" smtClean="0"/>
              <a:t>th</a:t>
            </a:r>
            <a:r>
              <a:rPr lang="en-US" dirty="0" smtClean="0"/>
              <a:t> of an inch. Detail normal maps contribute to gloss variance as well.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711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Authoring Diffuse Textures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values below 40, none above 238. This leaves room for lighting. </a:t>
            </a:r>
          </a:p>
          <a:p>
            <a:r>
              <a:rPr lang="en-US" dirty="0" smtClean="0"/>
              <a:t>Exception: In the case of a pure metal, this map should be completely black.</a:t>
            </a:r>
          </a:p>
          <a:p>
            <a:r>
              <a:rPr lang="en-US" dirty="0" smtClean="0"/>
              <a:t>Start with a flat color swatch to represent the unlit base color, or reflectance, of your surface.</a:t>
            </a:r>
          </a:p>
          <a:p>
            <a:r>
              <a:rPr lang="en-US" dirty="0" smtClean="0"/>
              <a:t>Do not paint AO or highlights of any kind into the diffuse map.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744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Authoring Specular Textures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of the time you should be skipping this step.</a:t>
            </a:r>
          </a:p>
          <a:p>
            <a:r>
              <a:rPr lang="en-US" dirty="0" smtClean="0"/>
              <a:t>In the case of a surface with bare metal showing, you can create a specular mask.</a:t>
            </a:r>
          </a:p>
          <a:p>
            <a:r>
              <a:rPr lang="en-US" dirty="0" smtClean="0"/>
              <a:t>Start with a white texture and paint all the parts that are not pure metal black.</a:t>
            </a:r>
          </a:p>
          <a:p>
            <a:r>
              <a:rPr lang="en-US" dirty="0" smtClean="0"/>
              <a:t>Touch up the areas around your metallic areas with grayscale values to simulate some dust coverage, or </a:t>
            </a:r>
            <a:r>
              <a:rPr lang="en-US" smtClean="0"/>
              <a:t>light pitting.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516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Authoring Gloss Textures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 with a fully white texture, to represent the glossiest that your surface will be.</a:t>
            </a:r>
          </a:p>
          <a:p>
            <a:r>
              <a:rPr lang="en-US" dirty="0"/>
              <a:t>Set the gloss range in APE to the appropriate surface type.</a:t>
            </a:r>
          </a:p>
          <a:p>
            <a:r>
              <a:rPr lang="en-US" dirty="0"/>
              <a:t>If the presets in APE don’t work, you can select custom and dial in the high and low gloss thresholds to suit your full range map</a:t>
            </a:r>
            <a:r>
              <a:rPr lang="en-US" dirty="0" smtClean="0"/>
              <a:t>.</a:t>
            </a:r>
          </a:p>
          <a:p>
            <a:r>
              <a:rPr lang="en-US" dirty="0" smtClean="0"/>
              <a:t>Paint the least glossy parts of this texture completely black.</a:t>
            </a:r>
          </a:p>
          <a:p>
            <a:r>
              <a:rPr lang="en-US" dirty="0" smtClean="0"/>
              <a:t>There is a separate power point that goes into further detail on gloss maps.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69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Authoring AO Textures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Bake these with your favorite tool, just make sure they aren’t too dark.</a:t>
            </a:r>
          </a:p>
          <a:p>
            <a:r>
              <a:rPr lang="en-US" dirty="0" smtClean="0"/>
              <a:t>There should not be AO across your entire surface, this will make your model get very dark in shadow and look flat.</a:t>
            </a:r>
          </a:p>
          <a:p>
            <a:r>
              <a:rPr lang="en-US" dirty="0" smtClean="0"/>
              <a:t>AO only affects the indirect lighting: reflection and bounced diffuse. Otherwise, your model would look like it had creepy moustache growing all over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4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75453"/>
            <a:ext cx="7315200" cy="6909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Transparency v. Decal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0"/>
            <a:ext cx="7315200" cy="2119180"/>
          </a:xfrm>
        </p:spPr>
        <p:txBody>
          <a:bodyPr/>
          <a:lstStyle/>
          <a:p>
            <a:r>
              <a:rPr lang="en-US" dirty="0" smtClean="0"/>
              <a:t>Transparency refers to freestanding objects that must blend with objects behind them: panes of glass and as little else as possible.</a:t>
            </a:r>
          </a:p>
          <a:p>
            <a:r>
              <a:rPr lang="en-US" dirty="0" smtClean="0"/>
              <a:t>Decals are objects that are coplanar with another piece of opaque geometry and </a:t>
            </a:r>
            <a:r>
              <a:rPr lang="en-US" smtClean="0"/>
              <a:t>override all, or parts, </a:t>
            </a:r>
            <a:r>
              <a:rPr lang="en-US" dirty="0" smtClean="0"/>
              <a:t>of the underlying </a:t>
            </a:r>
            <a:r>
              <a:rPr lang="en-US" dirty="0" err="1" smtClean="0"/>
              <a:t>GBuffer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48897"/>
            <a:ext cx="1905000" cy="2381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10000" y="648898"/>
            <a:ext cx="1981200" cy="23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6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66800"/>
            <a:ext cx="7315200" cy="1154097"/>
          </a:xfrm>
        </p:spPr>
        <p:txBody>
          <a:bodyPr/>
          <a:lstStyle/>
          <a:p>
            <a:r>
              <a:rPr lang="en-US" dirty="0" smtClean="0"/>
              <a:t>Transparency v. Decal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91918"/>
            <a:ext cx="7315200" cy="3539527"/>
          </a:xfrm>
        </p:spPr>
        <p:txBody>
          <a:bodyPr>
            <a:normAutofit/>
          </a:bodyPr>
          <a:lstStyle/>
          <a:p>
            <a:r>
              <a:rPr lang="en-US" dirty="0" smtClean="0"/>
              <a:t>Transparency is the single fastest way to ruin our framerate because you open the door to having to light a pixel multiple times. Only use transparency when ABSOLUTELY necessary. </a:t>
            </a:r>
            <a:r>
              <a:rPr lang="en-US" b="1" dirty="0" smtClean="0"/>
              <a:t>Try alpha test first, it’s better than you remember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Decals don’t have to just be grime they can be dents, polished patches, water on a surface, etc.</a:t>
            </a:r>
          </a:p>
          <a:p>
            <a:r>
              <a:rPr lang="en-US" dirty="0" smtClean="0"/>
              <a:t>Decals need to have their Decal Layer set to an appropriate default value based on what they represent.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50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2743200"/>
            <a:ext cx="7315200" cy="740403"/>
          </a:xfrm>
        </p:spPr>
        <p:txBody>
          <a:bodyPr/>
          <a:lstStyle/>
          <a:p>
            <a:r>
              <a:rPr lang="en-US" dirty="0" smtClean="0"/>
              <a:t>Substance Designer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3429000"/>
            <a:ext cx="7315200" cy="2880361"/>
          </a:xfrm>
        </p:spPr>
        <p:txBody>
          <a:bodyPr>
            <a:normAutofit/>
          </a:bodyPr>
          <a:lstStyle/>
          <a:p>
            <a:r>
              <a:rPr lang="en-US" dirty="0" smtClean="0"/>
              <a:t>Allows a set of textures for a material to be tied together. One graph can spit out diffuse, specular, normal, gloss, etc. at the same time and at appropriate resolutions.</a:t>
            </a:r>
          </a:p>
          <a:p>
            <a:r>
              <a:rPr lang="en-US" dirty="0" smtClean="0"/>
              <a:t>Does a good job of baking information from a mesh.</a:t>
            </a:r>
          </a:p>
          <a:p>
            <a:r>
              <a:rPr lang="en-US" dirty="0" smtClean="0"/>
              <a:t>Building the base materials with Substance graphs allows batch updates if necessary.</a:t>
            </a:r>
          </a:p>
          <a:p>
            <a:r>
              <a:rPr lang="en-US" dirty="0" smtClean="0"/>
              <a:t>Opens the door for in-engine texture blending (at the cost of memory) if we get the engineering support and the impetus.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8" y="381000"/>
            <a:ext cx="5572125" cy="23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059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336</TotalTime>
  <Words>968</Words>
  <Application>Microsoft Office PowerPoint</Application>
  <PresentationFormat>On-screen Show (4:3)</PresentationFormat>
  <Paragraphs>79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Perspective</vt:lpstr>
      <vt:lpstr>We Do The Render</vt:lpstr>
      <vt:lpstr>WTF is PBR?</vt:lpstr>
      <vt:lpstr>Core Ideas of PBR</vt:lpstr>
      <vt:lpstr>Black Ops 1 PBR</vt:lpstr>
      <vt:lpstr>Current PBR</vt:lpstr>
      <vt:lpstr>Forward v. Deferred</vt:lpstr>
      <vt:lpstr>Forward v. Deferred (2)</vt:lpstr>
      <vt:lpstr>From Theory to Practice</vt:lpstr>
      <vt:lpstr>Authoring Normal Maps</vt:lpstr>
      <vt:lpstr>Authoring Diffuse Textures</vt:lpstr>
      <vt:lpstr>Authoring Specular Textures</vt:lpstr>
      <vt:lpstr>Authoring Gloss Textures</vt:lpstr>
      <vt:lpstr>Authoring AO Textures</vt:lpstr>
      <vt:lpstr>Transparency v. Decal</vt:lpstr>
      <vt:lpstr>Transparency v. Decal (2)</vt:lpstr>
      <vt:lpstr>Substance Designer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Do The Render</dc:title>
  <dc:creator>Hanna Holloway, Brendan</dc:creator>
  <cp:lastModifiedBy>La, Tan</cp:lastModifiedBy>
  <cp:revision>40</cp:revision>
  <dcterms:created xsi:type="dcterms:W3CDTF">2014-05-21T17:55:20Z</dcterms:created>
  <dcterms:modified xsi:type="dcterms:W3CDTF">2016-12-20T19:43:30Z</dcterms:modified>
</cp:coreProperties>
</file>